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9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000-436B-A865-9F79C671A1EE}"/>
              </c:ext>
            </c:extLst>
          </c:dPt>
          <c:dPt>
            <c:idx val="1"/>
            <c:bubble3D val="0"/>
            <c:spPr>
              <a:solidFill>
                <a:srgbClr val="2A3F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000-436B-A865-9F79C671A1EE}"/>
              </c:ext>
            </c:extLst>
          </c:dPt>
          <c:cat>
            <c:strRef>
              <c:f>Sheet1!$A$2:$A$3</c:f>
              <c:strCache>
                <c:ptCount val="2"/>
                <c:pt idx="0">
                  <c:v>Top 10% of Customers</c:v>
                </c:pt>
                <c:pt idx="1">
                  <c:v>Remaining 90% of Customers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81.650000000000006</c:v>
                </c:pt>
                <c:pt idx="1">
                  <c:v>18.350000000000001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000-436B-A865-9F79C671A1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B8C4D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($M)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2023 (Full Year)</c:v>
                </c:pt>
                <c:pt idx="1">
                  <c:v>2024 (Full Year)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31.6</c:v>
                </c:pt>
                <c:pt idx="1">
                  <c:v>43.67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D8-4A06-A170-7172AAEF2F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8C4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Bikes</c:v>
                </c:pt>
                <c:pt idx="1">
                  <c:v>Components</c:v>
                </c:pt>
                <c:pt idx="2">
                  <c:v>Clothing</c:v>
                </c:pt>
                <c:pt idx="3">
                  <c:v>Accessories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94.65</c:v>
                </c:pt>
                <c:pt idx="1">
                  <c:v>11.8</c:v>
                </c:pt>
                <c:pt idx="2">
                  <c:v>2.12</c:v>
                </c:pt>
                <c:pt idx="3">
                  <c:v>1.27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30-4965-8882-C100E9A621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Revenue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#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High-Value /
Loyal</c:v>
                </c:pt>
                <c:pt idx="1">
                  <c:v>Frequent
Low-Value</c:v>
                </c:pt>
                <c:pt idx="2">
                  <c:v>Low-Value /
Low-Frequency</c:v>
                </c:pt>
                <c:pt idx="3">
                  <c:v>Occasional
High-Spenders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82.02</c:v>
                </c:pt>
                <c:pt idx="1">
                  <c:v>11.82</c:v>
                </c:pt>
                <c:pt idx="2">
                  <c:v>6.16</c:v>
                </c:pt>
                <c:pt idx="3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DC-40BF-A4AA-2BDCD756CD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B8C4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($M)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Southwest</c:v>
                </c:pt>
                <c:pt idx="1">
                  <c:v>Canada</c:v>
                </c:pt>
                <c:pt idx="2">
                  <c:v>Northwest</c:v>
                </c:pt>
                <c:pt idx="3">
                  <c:v>Australia</c:v>
                </c:pt>
                <c:pt idx="4">
                  <c:v>United
Kingdom</c:v>
                </c:pt>
                <c:pt idx="5">
                  <c:v>Germany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24.18</c:v>
                </c:pt>
                <c:pt idx="1">
                  <c:v>16.36</c:v>
                </c:pt>
                <c:pt idx="2">
                  <c:v>16.079999999999998</c:v>
                </c:pt>
                <c:pt idx="3">
                  <c:v>10.66</c:v>
                </c:pt>
                <c:pt idx="4">
                  <c:v>7.67</c:v>
                </c:pt>
                <c:pt idx="5">
                  <c:v>4.92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72-40E6-94C9-B9F5957146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B8C4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 ($M)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276</c:v>
                </c:pt>
                <c:pt idx="1">
                  <c:v>277</c:v>
                </c:pt>
                <c:pt idx="2">
                  <c:v>275</c:v>
                </c:pt>
                <c:pt idx="3">
                  <c:v>289</c:v>
                </c:pt>
                <c:pt idx="4">
                  <c:v>279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10.37</c:v>
                </c:pt>
                <c:pt idx="1">
                  <c:v>10.07</c:v>
                </c:pt>
                <c:pt idx="2">
                  <c:v>9.2899999999999991</c:v>
                </c:pt>
                <c:pt idx="3">
                  <c:v>8.5</c:v>
                </c:pt>
                <c:pt idx="4">
                  <c:v>7.17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7A-4504-B2DE-37BC841A84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Monthly Sales ($M)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June</c:v>
                </c:pt>
                <c:pt idx="1">
                  <c:v>July</c:v>
                </c:pt>
                <c:pt idx="2">
                  <c:v>September</c:v>
                </c:pt>
                <c:pt idx="3">
                  <c:v>October</c:v>
                </c:pt>
                <c:pt idx="4">
                  <c:v>December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4.58</c:v>
                </c:pt>
                <c:pt idx="1">
                  <c:v>4.17</c:v>
                </c:pt>
                <c:pt idx="2">
                  <c:v>4</c:v>
                </c:pt>
                <c:pt idx="3">
                  <c:v>3.68</c:v>
                </c:pt>
                <c:pt idx="4">
                  <c:v>3.46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56-486E-ADC1-7E4D83FB8BF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B8C4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9471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FINAL PROJECT  ·  ADVENTUREWORKS2025 BI PIPELINE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73736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&amp; Customer Analytics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88036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our strongest products, customers and territories really the ones driving growth — and where is management attention needed most?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416052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4160520"/>
            <a:ext cx="45720" cy="12344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428853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$109.85M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0109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416052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4160520"/>
            <a:ext cx="45720" cy="12344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246120" y="428853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31,465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3337560" y="50109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52160" y="416052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52160" y="4160520"/>
            <a:ext cx="45720" cy="12344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852160" y="428853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19,119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0" y="50109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458200" y="4160520"/>
            <a:ext cx="2423160" cy="1234440"/>
          </a:xfrm>
          <a:prstGeom prst="roundRect">
            <a:avLst>
              <a:gd name="adj" fmla="val 8889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58200" y="4160520"/>
            <a:ext cx="45720" cy="12344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458200" y="428853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+38%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8549640" y="501091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2023→2024 GROWTH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566750" y="615563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sz="1200" dirty="0">
                <a:solidFill>
                  <a:srgbClr val="8CA0C2"/>
                </a:solidFill>
                <a:latin typeface="Calibri" pitchFamily="34" charset="0"/>
                <a:cs typeface="Calibri" pitchFamily="34" charset="-120"/>
              </a:rPr>
              <a:t>Youssef Mohamed | </a:t>
            </a:r>
            <a:r>
              <a:rPr lang="en-US" sz="1200" dirty="0" err="1">
                <a:solidFill>
                  <a:srgbClr val="8CA0C2"/>
                </a:solidFill>
                <a:latin typeface="Calibri" pitchFamily="34" charset="0"/>
                <a:cs typeface="Calibri" pitchFamily="34" charset="-120"/>
              </a:rPr>
              <a:t>AdventureWorks</a:t>
            </a:r>
            <a:r>
              <a:rPr lang="en-US" sz="1200" dirty="0">
                <a:solidFill>
                  <a:srgbClr val="8CA0C2"/>
                </a:solidFill>
                <a:latin typeface="Calibri" pitchFamily="34" charset="0"/>
                <a:cs typeface="Calibri" pitchFamily="34" charset="-120"/>
              </a:rPr>
              <a:t> Dataset (Microsoft), 2023–2024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BRIEFING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868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5074920" cy="868680"/>
          </a:xfrm>
          <a:prstGeom prst="roundRect">
            <a:avLst>
              <a:gd name="adj" fmla="val 12632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208940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2E86A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9808" y="20894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1984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3134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business stands today, in five numbers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897880" y="1874520"/>
            <a:ext cx="5074920" cy="868680"/>
          </a:xfrm>
          <a:prstGeom prst="roundRect">
            <a:avLst>
              <a:gd name="adj" fmla="val 12632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99048" y="208940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E76F5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099048" y="20894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1984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23134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trajectory, seasonality, and order value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2907792"/>
            <a:ext cx="5074920" cy="868680"/>
          </a:xfrm>
          <a:prstGeom prst="roundRect">
            <a:avLst>
              <a:gd name="adj" fmla="val 12632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9808" y="3122676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2A9D8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49808" y="31226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325880" y="3017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33467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selling, and what isn't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897880" y="2907792"/>
            <a:ext cx="5074920" cy="868680"/>
          </a:xfrm>
          <a:prstGeom prst="roundRect">
            <a:avLst>
              <a:gd name="adj" fmla="val 12632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99048" y="3122676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2E86A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099048" y="31226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675120" y="3017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&amp; Segmentation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675120" y="33467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our most valuable customers are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48640" y="3941064"/>
            <a:ext cx="5074920" cy="868680"/>
          </a:xfrm>
          <a:prstGeom prst="roundRect">
            <a:avLst>
              <a:gd name="adj" fmla="val 12632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9808" y="415594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E76F5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49808" y="41559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325880" y="4050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&amp; Salesperson Performance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325880" y="43799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territories and reps — and the risks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897880" y="3941064"/>
            <a:ext cx="5074920" cy="868680"/>
          </a:xfrm>
          <a:prstGeom prst="roundRect">
            <a:avLst>
              <a:gd name="adj" fmla="val 12632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99048" y="415594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2A9D8F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099048" y="41559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675120" y="4050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6675120" y="437997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actions management should take next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AdventureWorks Retail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76F51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51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Revenue Broad-Based, or Concentrated?</a:t>
            </a:r>
            <a:endParaRPr lang="en-US" sz="2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920240"/>
          <a:ext cx="4663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32461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81.65%</a:t>
            </a:r>
            <a:endParaRPr lang="en-US" sz="32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7947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40680" y="1920240"/>
            <a:ext cx="6217920" cy="603504"/>
          </a:xfrm>
          <a:prstGeom prst="roundRect">
            <a:avLst>
              <a:gd name="adj" fmla="val 18182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623560" y="192024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$109.85M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7680960" y="192024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40680" y="2651760"/>
            <a:ext cx="6217920" cy="603504"/>
          </a:xfrm>
          <a:prstGeom prst="roundRect">
            <a:avLst>
              <a:gd name="adj" fmla="val 18182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623560" y="265176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31,465</a:t>
            </a:r>
            <a:endParaRPr lang="en-US" sz="21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0" y="265176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40680" y="3383280"/>
            <a:ext cx="6217920" cy="603504"/>
          </a:xfrm>
          <a:prstGeom prst="roundRect">
            <a:avLst>
              <a:gd name="adj" fmla="val 18182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623560" y="338328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274,914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7680960" y="338328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40680" y="4114800"/>
            <a:ext cx="6217920" cy="603504"/>
          </a:xfrm>
          <a:prstGeom prst="roundRect">
            <a:avLst>
              <a:gd name="adj" fmla="val 18182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623560" y="4114800"/>
            <a:ext cx="2011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$3,491</a:t>
            </a:r>
            <a:endParaRPr lang="en-US" sz="2100" dirty="0"/>
          </a:p>
        </p:txBody>
      </p:sp>
      <p:sp>
        <p:nvSpPr>
          <p:cNvPr id="21" name="Text 17"/>
          <p:cNvSpPr txBox="1"/>
          <p:nvPr/>
        </p:nvSpPr>
        <p:spPr>
          <a:xfrm>
            <a:off x="7680960" y="411480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440680" y="4937760"/>
            <a:ext cx="6217920" cy="1463040"/>
          </a:xfrm>
          <a:prstGeom prst="roundRect">
            <a:avLst>
              <a:gd name="adj" fmla="val 7500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440680" y="4937760"/>
            <a:ext cx="54864" cy="14630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5696712" y="508406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5696712" y="5394960"/>
            <a:ext cx="57058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heavily concentrated: the top 10% of customers generate 81.65% of total sales, and ~24% of products generate 80.33% of product revenue. Protecting this core is management's single highest-leverage priority.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AdventureWorks Retail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76F51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51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Growth, but Order Value Is Slipping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91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SALES — 2023 VS 2024</a:t>
            </a:r>
            <a:endParaRPr lang="en-US" sz="12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2057400"/>
          <a:ext cx="52120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5943600" y="1874520"/>
            <a:ext cx="2834640" cy="1051560"/>
          </a:xfrm>
          <a:prstGeom prst="roundRect">
            <a:avLst>
              <a:gd name="adj" fmla="val 10435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943600" y="1874520"/>
            <a:ext cx="45720" cy="10515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5943600" y="200253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+38%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6035040" y="254203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(2023→2024)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915400" y="1874520"/>
            <a:ext cx="2788920" cy="1051560"/>
          </a:xfrm>
          <a:prstGeom prst="roundRect">
            <a:avLst>
              <a:gd name="adj" fmla="val 10435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915400" y="1874520"/>
            <a:ext cx="45720" cy="10515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915400" y="2002536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$5.22M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9006840" y="25420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5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MONTH (APR 2025)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943600" y="3108960"/>
            <a:ext cx="5760720" cy="1234440"/>
          </a:xfrm>
          <a:prstGeom prst="roundRect">
            <a:avLst>
              <a:gd name="adj" fmla="val 8889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943600" y="3108960"/>
            <a:ext cx="54864" cy="12344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199632" y="325526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6199632" y="3566160"/>
            <a:ext cx="52486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concentrated in a few standout periods: the top 7 sales months generated 30.8% of total revenue, and the top 13 months generated 50.85%.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943600" y="4480560"/>
            <a:ext cx="5760720" cy="1645920"/>
          </a:xfrm>
          <a:prstGeom prst="roundRect">
            <a:avLst>
              <a:gd name="adj" fmla="val 6667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943600" y="4480560"/>
            <a:ext cx="54864" cy="164592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199632" y="462686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ATTENTION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6199632" y="4937760"/>
            <a:ext cx="52486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Average Order Value ($3,491) has been declining since the second half of 2024, even as total sales rose. Growth is currently leaning on order count rather than order size — a bundling/upsell push is needed to protect margins.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AdventureWorks Retail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76F51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Carry the Business — Everything Else Is a Rounding Error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916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($M)</a:t>
            </a:r>
            <a:endParaRPr lang="en-US" sz="12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2057400"/>
          <a:ext cx="630936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6995160" y="1874520"/>
            <a:ext cx="4709160" cy="1737360"/>
          </a:xfrm>
          <a:prstGeom prst="roundRect">
            <a:avLst>
              <a:gd name="adj" fmla="val 6316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995160" y="1874520"/>
            <a:ext cx="54864" cy="17373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251192" y="202082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251192" y="2331720"/>
            <a:ext cx="41970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and Components together generate 96.91% of all product revenue. Within categories, Road Bikes (~$43.91M) and Mountain Frames (~$4.71M) lead their subcategories and are the products to protect above all others.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995160" y="3794760"/>
            <a:ext cx="4709160" cy="2240280"/>
          </a:xfrm>
          <a:prstGeom prst="roundRect">
            <a:avLst>
              <a:gd name="adj" fmla="val 4898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995160" y="3794760"/>
            <a:ext cx="54864" cy="224028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251192" y="394106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ATTENTION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251192" y="4251960"/>
            <a:ext cx="4197096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of 266 products (24.06% of the portfolio) generate 80.33% of revenue — a classic 80/20 pattern. Meanwhile, high-volume items like the AWC Logo Cap (8,311 units) and Water Bottle 30oz (6,815 units) sell in bulk but contribute comparatively little revenue — better used as bundle add-ons than standalone growth drivers.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AdventureWorks Retail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76F51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 &amp; SEGMENTATION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 Ten Customers Drives Four in Five Dollars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91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BY CUSTOMER SEGMENT (%)</a:t>
            </a:r>
            <a:endParaRPr lang="en-US" sz="12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2057400"/>
          <a:ext cx="64008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7086600" y="1874520"/>
            <a:ext cx="4617720" cy="1874520"/>
          </a:xfrm>
          <a:prstGeom prst="roundRect">
            <a:avLst>
              <a:gd name="adj" fmla="val 5854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086600" y="1874520"/>
            <a:ext cx="54864" cy="1874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342632" y="202082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342632" y="2331720"/>
            <a:ext cx="410565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High-Value/Loyal segment is just 10.37% of customers (1,983 people) but generates 82.02% of revenue, with the highest AOV at $12,655.53. This is the segment to protect with priority service and retention offers.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086600" y="3931920"/>
            <a:ext cx="4617720" cy="2103120"/>
          </a:xfrm>
          <a:prstGeom prst="roundRect">
            <a:avLst>
              <a:gd name="adj" fmla="val 5217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086600" y="3931920"/>
            <a:ext cx="54864" cy="210312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342632" y="407822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ATTENTION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342632" y="4389120"/>
            <a:ext cx="41056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Low-Value/Low-Frequency segment is the largest by headcount (60.92% of customers) but contributes only 6.16% of revenue — the biggest untapped growth pool. The Frequent Low-Value segment (28.7% of customers) already buys often but at a low $1,022 AOV — the clearest upsell opportunity.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AdventureWorks Retail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76F51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PERFORMANCE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Leads — But Customer Volume Isn't the Whole Story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916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TERRITORY ($M)</a:t>
            </a:r>
            <a:endParaRPr lang="en-US" sz="12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2057400"/>
          <a:ext cx="649224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7086600" y="1874520"/>
            <a:ext cx="4617720" cy="1965960"/>
          </a:xfrm>
          <a:prstGeom prst="roundRect">
            <a:avLst>
              <a:gd name="adj" fmla="val 5581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086600" y="1874520"/>
            <a:ext cx="54864" cy="196596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342632" y="202082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342632" y="2331720"/>
            <a:ext cx="4105656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(3,625 customers) and the UK (1,951 customers) both have above-average customer counts but below-average AOV ($1,557 and $2,383). The constraint isn't customer volume — it's converting existing customers into higher-value orders.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086600" y="3977640"/>
            <a:ext cx="4617720" cy="2057400"/>
          </a:xfrm>
          <a:prstGeom prst="roundRect">
            <a:avLst>
              <a:gd name="adj" fmla="val 5333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086600" y="3977640"/>
            <a:ext cx="54864" cy="205740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342632" y="412394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ATTENTION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342632" y="4434840"/>
            <a:ext cx="410565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is the top territory ($24.18M) but declined 4.65% in H1 2025 vs. H1 2024 — it needs protecting, not just celebrating. Meanwhile, Central, Southeast and Northeast run on tiny customer bases with AOVs up to $20,542.88, proving order value can outweigh customer count.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AdventureWorks Retail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76F51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SALESPERSON PERFORMANCE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Leaders Aren't Automatically the Safest Bets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916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SALESPEOPLE BY REVENUE ($M)</a:t>
            </a:r>
            <a:endParaRPr lang="en-US" sz="12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2057400"/>
          <a:ext cx="630936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6995160" y="1874520"/>
            <a:ext cx="4709160" cy="1737360"/>
          </a:xfrm>
          <a:prstGeom prst="roundRect">
            <a:avLst>
              <a:gd name="adj" fmla="val 6316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995160" y="1874520"/>
            <a:ext cx="54864" cy="173736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251192" y="202082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251192" y="2331720"/>
            <a:ext cx="41970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average salesperson generates $4.73M in sales across 223 orders at a $20.48K AOV. Salespeople split into volume-driven (e.g., #277: 473 orders) and value-driven (e.g., #280: $35.0K AOV) profiles — both are valid, and should be managed differently.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995160" y="3794760"/>
            <a:ext cx="4709160" cy="2240280"/>
          </a:xfrm>
          <a:prstGeom prst="roundRect">
            <a:avLst>
              <a:gd name="adj" fmla="val 4898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995160" y="3794760"/>
            <a:ext cx="54864" cy="2240280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251192" y="394106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/ ATTENTION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251192" y="4251960"/>
            <a:ext cx="4197096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Salesperson #285 is a clear outlier: only $172.5K in sales from 16 orders (vs. a $4.73M average), with 33.49% of that revenue from a single customer. This combination of low output and customer-concentration risk needs an immediate, focused review.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AdventureWorks Retail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114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76F51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4754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ANALYSIS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058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Through September Is a Reliable Sales Peak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69164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SALES, 2023–2024 ($M)</a:t>
            </a:r>
            <a:endParaRPr lang="en-US" sz="12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457200" y="2057400"/>
          <a:ext cx="630936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6995160" y="1874520"/>
            <a:ext cx="4709160" cy="1874520"/>
          </a:xfrm>
          <a:prstGeom prst="roundRect">
            <a:avLst>
              <a:gd name="adj" fmla="val 5854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995160" y="1874520"/>
            <a:ext cx="54864" cy="187452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251192" y="202082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7251192" y="2331720"/>
            <a:ext cx="419709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outperformed 2023 in every single comparable month. Q3 was the strongest quarter in both years ($9.05M in 2023 → $12.78M in 2024), and October 2024 posted the strongest YoY growth at ~+89%.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995160" y="3931920"/>
            <a:ext cx="4709160" cy="2103120"/>
          </a:xfrm>
          <a:prstGeom prst="roundRect">
            <a:avLst>
              <a:gd name="adj" fmla="val 5217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995160" y="3931920"/>
            <a:ext cx="54864" cy="21031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251192" y="407822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7251192" y="4389120"/>
            <a:ext cx="419709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rolling 3-month average (which held near $4.4M through Jul–Aug 2024, vs. a $3.5M peak in 2023) as the core monitoring KPI, and pre-position inventory and sales capacity ahead of the recurring June–September peak.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AdventureWorks Retail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SUMMARY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14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Numbers That Define the Business Today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74520"/>
            <a:ext cx="361188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21031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80.33%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8346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comes from just ~24% of products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87452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343400" y="1874520"/>
            <a:ext cx="361188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26280" y="21031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81.65%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4526280" y="28346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comes from the top 10% of customers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138160" y="187452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38160" y="1874520"/>
            <a:ext cx="36118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21040" y="21031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+38%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283464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growth, 2023 → 2024 (complete years)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74904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3749040"/>
            <a:ext cx="3611880" cy="54864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9776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33.49%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47091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Salesperson #285's revenue is one customer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343400" y="374904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343400" y="3749040"/>
            <a:ext cx="361188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526280" y="39776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$24.18M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4526280" y="47091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— the leading territory, but declining in H1 2025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8138160" y="3749040"/>
            <a:ext cx="3611880" cy="1691640"/>
          </a:xfrm>
          <a:prstGeom prst="roundRect">
            <a:avLst>
              <a:gd name="adj" fmla="val 6486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138160" y="3749040"/>
            <a:ext cx="361188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321040" y="39776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3000" dirty="0"/>
          </a:p>
        </p:txBody>
      </p:sp>
      <p:sp>
        <p:nvSpPr>
          <p:cNvPr id="28" name="Text 25"/>
          <p:cNvSpPr txBox="1"/>
          <p:nvPr/>
        </p:nvSpPr>
        <p:spPr>
          <a:xfrm>
            <a:off x="8321040" y="47091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strongest, most consistent quarter across both years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AdventureWorks Retail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s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14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Actions for Management This Quarter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87452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4672" y="213055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E86A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04672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11226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Concentrated Core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788920"/>
            <a:ext cx="4837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availability and priority service for the top ~24% of products, the top-decile customers, Southwest, and the strongest reps — losing any of these has an outsized impact.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26480" y="187452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82512" y="213055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A9D8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82512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040880" y="211226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Volume into Value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382512" y="2788920"/>
            <a:ext cx="4837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bundling, upselling and minimum-spend incentives in Australia, the UK, and frequent-but-low-spend customers to close the AOV gap without needing more customers.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425196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" y="450799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D64545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04672" y="4507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48970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Salesperson #285's Risk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04672" y="5166360"/>
            <a:ext cx="4837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immediate portfolio review — 33.49% customer concentration on a very low sales base is the single most urgent people-risk in this analysis.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126480" y="425196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82512" y="450799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E76F5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382512" y="4507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448970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Around the Q3 / Jun–Sep Peak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382512" y="5166360"/>
            <a:ext cx="48371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Pre-position inventory and sales capacity ahead of the recurring high season, and track performance with a rolling 3-month average rather than single months.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AdventureWorks Retail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9144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Data Notes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965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291840" y="196596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AdventureWorks2025 sample database (Microsoft), restored to SQL Server.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017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Period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291840" y="301752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May 2022 – 29 June 2025. 2022 and 2025 are partial years and are excluded from full-year and YoY comparisons.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40690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069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406908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(T-SQL: aggregates, CASE WHEN, joins, CTEs, window functions) for analysis; Power BI (star-schema model + DAX) for the interactive dashboard.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24406A">
              <a:alpha val="92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51206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Method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291840" y="5120640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B8C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grouped by Frequency × Monetary value against company-wide averages — one of several valid approaches considered.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116586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AdventureWorks Retail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g_clo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958237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Youssef</a:t>
            </a:r>
            <a:r>
              <a:rPr lang="ar-EG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Mohamed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6676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chemeClr val="bg1">
                    <a:lumMod val="65000"/>
                  </a:schemeClr>
                </a:solidFill>
              </a:rPr>
              <a:t>Supervised by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 	Mariam </a:t>
            </a:r>
            <a:r>
              <a:rPr lang="en-US" sz="1400" b="1" dirty="0" err="1">
                <a:solidFill>
                  <a:schemeClr val="bg1"/>
                </a:solidFill>
              </a:rPr>
              <a:t>Metawe’e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40080" y="6309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AdventureWorks2025  |  Data Analysis Final Project  |  SQL Server → Power BI</a:t>
            </a:r>
            <a:endParaRPr lang="en-US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1DFCE1-0F20-C599-9443-1A2E5BB75B84}"/>
              </a:ext>
            </a:extLst>
          </p:cNvPr>
          <p:cNvSpPr txBox="1"/>
          <p:nvPr/>
        </p:nvSpPr>
        <p:spPr>
          <a:xfrm>
            <a:off x="534390" y="5093665"/>
            <a:ext cx="6175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>
                    <a:lumMod val="65000"/>
                  </a:schemeClr>
                </a:solidFill>
              </a:rPr>
              <a:t>Mentor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 	Abdulrahman Samhan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EC324C-5747-479A-D410-4F6934A6B6E5}"/>
              </a:ext>
            </a:extLst>
          </p:cNvPr>
          <p:cNvSpPr txBox="1"/>
          <p:nvPr/>
        </p:nvSpPr>
        <p:spPr>
          <a:xfrm>
            <a:off x="640079" y="2823857"/>
            <a:ext cx="6627619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>
                <a:solidFill>
                  <a:srgbClr val="E4E1F5"/>
                </a:solidFill>
                <a:latin typeface="Calibri" pitchFamily="34" charset="0"/>
                <a:cs typeface="Calibri" pitchFamily="34" charset="-120"/>
              </a:rPr>
              <a:t>Data Source: </a:t>
            </a:r>
            <a:r>
              <a:rPr lang="en-US" sz="1250" dirty="0" err="1">
                <a:solidFill>
                  <a:srgbClr val="E4E1F5"/>
                </a:solidFill>
                <a:latin typeface="Calibri" pitchFamily="34" charset="0"/>
                <a:cs typeface="Calibri" pitchFamily="34" charset="-120"/>
              </a:rPr>
              <a:t>AdventureWorks</a:t>
            </a:r>
            <a:r>
              <a:rPr lang="en-US" sz="1250" dirty="0">
                <a:solidFill>
                  <a:srgbClr val="E4E1F5"/>
                </a:solidFill>
                <a:latin typeface="Calibri" pitchFamily="34" charset="0"/>
                <a:cs typeface="Calibri" pitchFamily="34" charset="-120"/>
              </a:rPr>
              <a:t> Sample Database (Microsoft) | Analysis Period: FY 2023 – FY 2024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D98EE2-A5E8-DD1C-BEAD-C8EE1EB1422E}"/>
              </a:ext>
            </a:extLst>
          </p:cNvPr>
          <p:cNvSpPr txBox="1"/>
          <p:nvPr/>
        </p:nvSpPr>
        <p:spPr>
          <a:xfrm>
            <a:off x="640079" y="3225156"/>
            <a:ext cx="617516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50" dirty="0">
                <a:solidFill>
                  <a:srgbClr val="E4E1F5"/>
                </a:solidFill>
                <a:latin typeface="Calibri" pitchFamily="34" charset="0"/>
                <a:cs typeface="Calibri" pitchFamily="34" charset="-120"/>
              </a:rPr>
              <a:t>Analysis performed using SQL Server, Power BI, DAX, and Data Modeling.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1372</Words>
  <Application>Microsoft Office PowerPoint</Application>
  <PresentationFormat>Widescreen</PresentationFormat>
  <Paragraphs>181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youssef kamel</cp:lastModifiedBy>
  <cp:revision>2</cp:revision>
  <dcterms:created xsi:type="dcterms:W3CDTF">2026-09-18T04:44:59Z</dcterms:created>
  <dcterms:modified xsi:type="dcterms:W3CDTF">2026-09-18T05:14:36Z</dcterms:modified>
</cp:coreProperties>
</file>